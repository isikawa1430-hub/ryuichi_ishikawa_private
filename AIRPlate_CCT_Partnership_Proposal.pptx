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731520" cy="6858000"/>
          </a:xfrm>
          <a:prstGeom prst="rect">
            <a:avLst/>
          </a:prstGeom>
          <a:solidFill>
            <a:srgbClr val="00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8229600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Meiryo UI"/>
              </a:rPr>
              <a:t>AIR-Plate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eiryo UI"/>
              </a:rPr>
              <a:t>事業提携のご提案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8E8"/>
                </a:solidFill>
                <a:latin typeface="Meiryo UI"/>
              </a:rPr>
              <a:t>― 販売代理店契約に向けた協業フレームワーク 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486400" cy="2743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 UI"/>
              </a:rPr>
              <a:t>株式会社梓総合研究所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  <a:latin typeface="Meiryo UI"/>
              </a:rPr>
              <a:t>2026年5月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eiryo UI"/>
              </a:rPr>
              <a:t>CCT様向け
打合せ資料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0E8FF"/>
                </a:solidFill>
                <a:latin typeface="Meiryo U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本日のアジェンダ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40817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AIR-Plate事業の現状と成長機会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371600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029968"/>
            <a:ext cx="105156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06654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協業スキームのご提案（役割分担）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029968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688336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72491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販売・収益モデル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688336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467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346704"/>
            <a:ext cx="105156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3832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案件運営の進め方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3346704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05072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050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005072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0416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知財・秘密保持の考え方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005072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4663440"/>
            <a:ext cx="105156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0001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契約の基本条件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4663440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21808"/>
            <a:ext cx="4114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5321808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535838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本日ご確認いただきたいポイント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5321808"/>
            <a:ext cx="36576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AIR-Plateの概要と市場機会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建築DX・FM領域に特化した維持管理BIMプラットフォーム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AIR-Plateとは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32004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建築設計・FM領域に特化した
Notionベースの維持管理BIMプラットフォーム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17520"/>
            <a:ext cx="32004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17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3DスキャンデータとBIMデータ、
業務テンプレートを統合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06240"/>
            <a:ext cx="32004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建物のライフサイクル全体を
データで一元支援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280160"/>
            <a:ext cx="3017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280160"/>
            <a:ext cx="301752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280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市場の成長性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901952"/>
            <a:ext cx="73152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建築DX・BIM活用ニーズの拡大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542032"/>
            <a:ext cx="73152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FM領域でのデータ
一元管理ニーズの高まり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182112"/>
            <a:ext cx="73152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108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自治体・大手デベロッパーからの
引き合い増加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280160"/>
            <a:ext cx="28346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1280160"/>
            <a:ext cx="2834640" cy="4114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280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</a:rPr>
              <a:t>課題 ― パートナーの必要性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901952"/>
            <a:ext cx="731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梓総研単独では
営業・導入リソースに限界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2724912"/>
            <a:ext cx="731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ITコンサルティング力と
営業基盤を持つパートナーが不可欠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937760"/>
            <a:ext cx="64008" cy="1645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29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76C"/>
                </a:solidFill>
                <a:latin typeface="Meiryo UI"/>
              </a:rPr>
              <a:t>AIR-Plateは建物の「生まれてから終わりまで」をデジタルで繋ぐ、建築業界の新インフラです。
ITコンサルティング力と営業基盤を持つCCT様との協業で、市場浸透を加速させます。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なぜCCT様とのパートナーシップか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CCT様の強み × AIR-Plateの親和性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7132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7132320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CCT様の強み × AIR-Plateの親和性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1828800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  <a:latin typeface="Meiryo UI"/>
              </a:rPr>
              <a:t>ITコンサルティング力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920240"/>
            <a:ext cx="493776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874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エンドユーザーの業務課題を構造的に理解し、最適な導入を実現できる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1828800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  <a:latin typeface="Meiryo UI"/>
              </a:rPr>
              <a:t>Notion代理店としての基盤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743200"/>
            <a:ext cx="493776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697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AIR-Plate（Notionベース）の販売と一体化した提案が可能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74720"/>
            <a:ext cx="1828800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  <a:latin typeface="Meiryo UI"/>
              </a:rPr>
              <a:t>営業・サポート体制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566160"/>
            <a:ext cx="493776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大規模案件の運用・保守を担える組織力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116128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116128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両社の協業により実現できること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356616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3566160" cy="274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 UI"/>
              </a:rPr>
              <a:t>CCT様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FM/建築DX領域という新たな収益源の獲得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120640"/>
            <a:ext cx="356616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5120640"/>
            <a:ext cx="3566160" cy="2743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120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 UI"/>
              </a:rPr>
              <a:t>梓総研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プロダクトの市場浸透と技術開発への集中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5120640"/>
            <a:ext cx="356616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5120640"/>
            <a:ext cx="3566160" cy="2743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5120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 UI"/>
              </a:rPr>
              <a:t>エンドユーザー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ワンストップ（Notion＋AIR-Plate＋導入支援）での価値提供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1280160"/>
            <a:ext cx="4297680" cy="3200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280160"/>
            <a:ext cx="64008" cy="32004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1371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Meiryo UI"/>
              </a:rPr>
              <a:t>なぜ今、CCT様なのか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192024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  <a:latin typeface="Meiryo UI"/>
              </a:rPr>
              <a:t>Notionを基盤とするAIR-Plateにとって、
Notion代理店としての実績と顧客基盤を
持つCCT様は最高のパートナーです。
建築DX × IT × ビジネス開発の
三位一体の強みで、市場の新標準を
共に創りましょう。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協業スキーム ― 役割分担の全体像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CCT様が「事業主体」として自社名で契約・請求できるスキーム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0116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25880"/>
            <a:ext cx="448056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325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梓総研（甲）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325880"/>
            <a:ext cx="5212080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CCT様（乙）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37360"/>
            <a:ext cx="201168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1737360"/>
            <a:ext cx="448056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737360"/>
            <a:ext cx="521208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01168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知財・開発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7452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AIR-Plate本体の知財保持
テンプレート継続アップデート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4320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2743200"/>
            <a:ext cx="4480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74320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2011680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技術支援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88036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設計仕様の開示、技術レクチャー
二次サポート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一次サポート・導入支援
保守対応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49040"/>
            <a:ext cx="201168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3749040"/>
            <a:ext cx="448056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3749040"/>
            <a:ext cx="521208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749040"/>
            <a:ext cx="201168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77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営業・販売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886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案件レジストレーションの承認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86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事業主体として販売・マーケティング
契約締結・請求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5488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0" y="4754880"/>
            <a:ext cx="4480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4754880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754880"/>
            <a:ext cx="2011680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エンドユーザー対応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48920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建築専門知識を要する
高度な疑義対応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892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デモ・要件定義・設定支援
運用サポート全般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577840"/>
            <a:ext cx="11612880" cy="3657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</a:rPr>
              <a:t>ポイント：CCT様が「事業主体」として自社名で契約・請求できるスキームです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CCT様の業務イメージ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販売代理店としての主な業務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457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44752"/>
            <a:ext cx="31089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447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BC2"/>
                </a:solidFill>
                <a:latin typeface="Meiryo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営業・提案活動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エンドユーザーへのAIR-Plate＋Notionのセット提案
デモンストレーション・PoC支援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66928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44752"/>
            <a:ext cx="31089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447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C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444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契約・請求の一本化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Notionライセンス＋AIR-Plateライセンスをセットで請求
エンドユーザーとの利用契約はCCT様名義で締結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566928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05072"/>
            <a:ext cx="31089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0507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648"/>
                </a:solidFill>
                <a:latin typeface="Meiryo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05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導入・運用サポート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要件定義・初期設定・カスタマイズ
運用開始後の問い合わせ一次対応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931920"/>
            <a:ext cx="5669280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05072"/>
            <a:ext cx="31089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0507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A1E"/>
                </a:solidFill>
                <a:latin typeface="Meiryo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05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独自付加価値の提供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262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CCT様のコンサルティングサービスとの組み合わせ提案も可能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梓総研が提供するイネーブルメント支援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CCT様が自律的に販売・導入できるよう、梓総研が全面サポート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965960"/>
            <a:ext cx="73152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技術開示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テンプレートの設計仕様・数式・リレーション
構造等の詳細資料を提供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73152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定期レクチャー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3464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アップデート内容の共有、
新機能の使い方研修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965960"/>
            <a:ext cx="73152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担当者トレーニング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3464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CCT様の営業・技術担当者向け
ハンズオン研修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3716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371600"/>
            <a:ext cx="2743200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1965960"/>
            <a:ext cx="73152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二次サポート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83464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建築専門知識を要する高度な
問い合わせへのバックアップ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64008" cy="8686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76C"/>
                </a:solidFill>
                <a:latin typeface="Meiryo UI"/>
              </a:rPr>
              <a:t>→ 段階的にCCT様の独力対応範囲を広げていくイメージです。
最初は梓総研が手厚くサポートし、実績を積みながらCCT様が自立的に展開できる体制を構築します。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収益モデル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ロイヤリティ還元方式 ― CCT様が最大限の利益を享受できる構造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Meiryo UI"/>
              </a:rPr>
              <a:t>収益フロー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56032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56032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エンドユーザー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eiryo UI"/>
              </a:rPr>
              <a:t>ライセンス料＋
導入費用を支払い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240280"/>
            <a:ext cx="731520" cy="914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BC2"/>
                </a:solidFill>
                <a:latin typeface="Meiryo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828800"/>
            <a:ext cx="32004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828800"/>
            <a:ext cx="320040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CCT様（乙）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BC2"/>
                </a:solidFill>
                <a:latin typeface="Meiryo UI"/>
              </a:rPr>
              <a:t>売上を受領
（70〜80%を取得）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7A1E"/>
                </a:solidFill>
                <a:latin typeface="Meiryo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468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7A1E"/>
                </a:solidFill>
                <a:latin typeface="Meiryo UI"/>
              </a:rPr>
              <a:t>ロイヤリティ
(20〜30%)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828800"/>
            <a:ext cx="32004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828800"/>
            <a:ext cx="320040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梓総研（甲）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Meiryo UI"/>
              </a:rPr>
              <a:t>ロイヤリティを受領
（AIR-Plate相当分の20〜30%）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0400"/>
            <a:ext cx="55778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200400"/>
            <a:ext cx="5577840" cy="36576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00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</a:rPr>
              <a:t>ロイヤリティ料率（ご協議事項）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57600"/>
            <a:ext cx="2011680" cy="502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21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  <a:latin typeface="Meiryo UI"/>
              </a:rPr>
              <a:t>想定レンジ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721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C2"/>
                </a:solidFill>
                <a:latin typeface="Meiryo UI"/>
              </a:rPr>
              <a:t>20〜30%程度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251960"/>
            <a:ext cx="2011680" cy="502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15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  <a:latin typeface="Meiryo UI"/>
              </a:rPr>
              <a:t>CCT様の取り分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3159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C2"/>
                </a:solidFill>
                <a:latin typeface="Meiryo UI"/>
              </a:rPr>
              <a:t>70〜80%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846320"/>
            <a:ext cx="2011680" cy="502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10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  <a:latin typeface="Meiryo UI"/>
              </a:rPr>
              <a:t>算定基礎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910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C2"/>
                </a:solidFill>
                <a:latin typeface="Meiryo UI"/>
              </a:rPr>
              <a:t>AIR-Plate相当分のライセンス収益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200400"/>
            <a:ext cx="58521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3200400"/>
            <a:ext cx="5852160" cy="3657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200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</a:rPr>
              <a:t>個別技術支援費用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65760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イネーブルメント支援の範囲を超える
案件固有のカスタマイズ・コンサルティングは、
別途出来高ベースで協議。
※ 具体的な料率・算定基礎は
　 本日のご意見を踏まえて詰めてまいります。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案件の進め方 ― レジストレーション制度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双方にとって公平・透明な案件管理の仕組み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116128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案件登録（レジストレーション）の仕組み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383280" cy="36576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338328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CCT様が
営業活動開始前に、
対象案件を梓総研へ登録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76C"/>
                </a:solidFill>
                <a:latin typeface="Meiryo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9" y="1828800"/>
            <a:ext cx="33832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9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STEP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39" y="2194560"/>
            <a:ext cx="338328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28600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梓総研が承認
↓
CCT様の優先権を保護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  <a:latin typeface="Meiryo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8" y="1828800"/>
            <a:ext cx="3383280" cy="365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8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8" y="2194560"/>
            <a:ext cx="338328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8" y="228600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eiryo UI"/>
              </a:rPr>
              <a:t>承認済み案件には
梓総研は
直接営業を行わない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60520"/>
            <a:ext cx="11612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160520"/>
            <a:ext cx="11612880" cy="36576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 UI"/>
              </a:rPr>
              <a:t>梓設計案件との区分け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539496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539496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 UI"/>
              </a:rPr>
              <a:t>支援スタッフとして入るケース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  <a:latin typeface="Meiryo UI"/>
              </a:rPr>
              <a:t>状況：梓設計グループが主体の既存案件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32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対応：梓設計から業務委託として参画いただく形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63440"/>
            <a:ext cx="539496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663440"/>
            <a:ext cx="539496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 UI"/>
              </a:rPr>
              <a:t>代理店として売るケース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  <a:latin typeface="Meiryo UI"/>
              </a:rPr>
              <a:t>状況：CCT様主導の新規案件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532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eiryo UI"/>
              </a:rPr>
              <a:t>対応：代理店として自社名義で推進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案件の整理（短期・長期）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段階的な協業展開で確実にパートナーシップを構築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577840" cy="457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iryo UI"/>
              </a:rPr>
              <a:t>短期：協業試行案件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BC2"/>
                </a:solidFill>
                <a:latin typeface="Meiryo UI"/>
              </a:rPr>
              <a:t>まずはここから連携を開始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74320" cy="274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羽田空港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620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青山葬儀所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バンテリンドーム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三菱電機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325880"/>
            <a:ext cx="5852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585216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325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iryo UI"/>
              </a:rPr>
              <a:t>長期：展開候補案件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7451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76C"/>
                </a:solidFill>
                <a:latin typeface="Meiryo UI"/>
              </a:rPr>
              <a:t>実績を積んだ上で順次拡大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286000"/>
            <a:ext cx="27432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成田空港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880360"/>
            <a:ext cx="27432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62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ダイワロイネット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74720"/>
            <a:ext cx="27432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456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羽田空港（拡張）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69080"/>
            <a:ext cx="27432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0507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eiryo UI"/>
              </a:rPr>
              <a:t>竹中工務店全般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46888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A1E"/>
                </a:solidFill>
                <a:latin typeface="Meiryo UI"/>
              </a:rPr>
              <a:t>→
実績
拡大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20640"/>
            <a:ext cx="1161288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120640"/>
            <a:ext cx="64008" cy="14173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進め方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まずは短期案件で協業を試行し、業務フロー・サポート体制を検証。
実績を積みながら、段階的に長期案件・大規模案件へ拡大。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知的財産権・秘密保持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双方のノウハウを守り、プロダクト全体の品質向上に貢献する仕組み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57784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iryo UI"/>
              </a:rPr>
              <a:t>知的財産権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2879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AIR-Plate本体・標準テンプレートの
知財は梓総研に帰属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39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1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CCT様がエンドユーザー向けに作成した設定・追加機能のうち、
汎用性のあるものは協議の上、次期アップデートへ反映可能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25880"/>
            <a:ext cx="5852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852160" cy="41148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325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iryo UI"/>
              </a:rPr>
              <a:t>秘密保持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74519"/>
            <a:ext cx="32004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874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82879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双方が開示する技術・営業情報について、
相互に守秘義務を負う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63239"/>
            <a:ext cx="320040" cy="3200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01751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eiryo UI"/>
              </a:rPr>
              <a:t>第三者への開示は
事前の書面承諾が必要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63440"/>
            <a:ext cx="11612880" cy="1874519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64008" cy="1874519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  <a:latin typeface="Meiryo UI"/>
              </a:rPr>
              <a:t>→ CCT様の独自ノウハウを尊重しつつ、プロダクト全体の品質向上にも資する仕組みです。
CCT様が現場で培った知見がAIR-Plateをより良くし、より多くのユーザーに価値を届けます。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契約の基本条件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販売代理店契約の主要条件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56032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45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契約形態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642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販売代理店契約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810512"/>
            <a:ext cx="109728" cy="10972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2560320" cy="9144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有効期間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614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締結日から1年間（自動更新）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907792"/>
            <a:ext cx="109728" cy="109728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256032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840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更新拒絶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期間満了3ヶ月前までに書面通知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005072"/>
            <a:ext cx="109728" cy="10972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75488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754880"/>
            <a:ext cx="2560320" cy="9144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937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対価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56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eiryo UI"/>
              </a:rPr>
              <a:t>ロイヤリティ＋個別技術支援費（出来高ベース）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102352"/>
            <a:ext cx="109728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76C"/>
                </a:solidFill>
                <a:latin typeface="Meiryo UI"/>
              </a:rPr>
              <a:t>※ 上記は基本条件の骨格です。詳細条件は本日の協議内容を踏まえ、契約書ドラフトに反映いたします。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本日ご確認いただきたいポイント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以下の点について、CCT様のお考え・ご要望をお聞かせください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457200" cy="1417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役割分担について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業務範囲の認識にずれがないか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457200" cy="1417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ロイヤリティ料率について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想定レンジ（20〜30%）に対するご意見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2628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26280"/>
            <a:ext cx="457200" cy="14173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29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ロイヤリティ算定基礎について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AIR-Plate相当分 or セット価格全体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45720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920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案件レジストレーション制度について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運用上のご懸念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7180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71800"/>
            <a:ext cx="45720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梓設計案件との区分けについて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11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代理店 vs 業務委託の使い分け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526280"/>
            <a:ext cx="5669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526280"/>
            <a:ext cx="45720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029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Meiryo UI"/>
              </a:rPr>
              <a:t>短期案件での試行について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eiryo UI"/>
              </a:rPr>
              <a:t>▶ 開始時期・対象案件のご希望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 UI"/>
              </a:rPr>
              <a:t>今後のスケジュール（案）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Meiryo UI"/>
              </a:rPr>
              <a:t>スピーディーな合意形成・契約締結を目指します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Meiryo UI"/>
              </a:rPr>
              <a:t>株式会社梓総合研究所  |  AIR-Plate 事業提携ご提案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097280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本日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463040"/>
            <a:ext cx="10515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463040"/>
            <a:ext cx="45720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60020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Meiryo UI"/>
              </a:rPr>
              <a:t>協業フレームワークの方向性合意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97480"/>
            <a:ext cx="109728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108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〜2週間後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97480"/>
            <a:ext cx="1051560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697480"/>
            <a:ext cx="457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8346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Meiryo UI"/>
              </a:rPr>
              <a:t>ロイヤリティ料率・算定基礎の合意
契約書ドラフト修正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1097280" cy="10058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〜1ヶ月後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3931920"/>
            <a:ext cx="10515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3931920"/>
            <a:ext cx="45720" cy="10058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Meiryo UI"/>
              </a:rPr>
              <a:t>契約書最終確認・締結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66360"/>
            <a:ext cx="1097280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577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契約締結後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166360"/>
            <a:ext cx="1051560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5166360"/>
            <a:ext cx="45720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3035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Meiryo UI"/>
              </a:rPr>
              <a:t>イネーブルメント支援開始
短期案件での協業試行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D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4952" cy="68580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0"/>
            <a:ext cx="731520" cy="6858000"/>
          </a:xfrm>
          <a:prstGeom prst="rect">
            <a:avLst/>
          </a:prstGeom>
          <a:solidFill>
            <a:srgbClr val="00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eiryo UI"/>
              </a:rPr>
              <a:t>AIR-Plate  ×  CCT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8E8"/>
                </a:solidFill>
                <a:latin typeface="Meiryo UI"/>
              </a:rPr>
              <a:t>FM / 建築DXの新たなスタンダードへ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eiryo UI"/>
              </a:rPr>
              <a:t>梓総研の建築専門知識  ×  CCT様のIT力・営業力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  <a:latin typeface="Meiryo UI"/>
              </a:rPr>
              <a:t>双方の強みを活かした、Win-Winの事業パートナーシップ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4572000" cy="2743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eiryo UI"/>
              </a:rPr>
              <a:t>本日の議論を踏まえ、両社にとって最良のスキームを
一緒に作り上げてまいりたいと考えております。
忌憚のないご意見をお聞かせください。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0C8E8"/>
                </a:solidFill>
                <a:latin typeface="Meiryo UI"/>
              </a:rPr>
              <a:t>ありがとうございました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</a:rPr>
              <a:t>株式会社梓総合研究所
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