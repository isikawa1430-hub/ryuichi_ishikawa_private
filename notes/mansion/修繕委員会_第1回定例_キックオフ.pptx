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6464808" cy="3200400"/>
          </a:xfrm>
          <a:prstGeom prst="rect">
            <a:avLst/>
          </a:prstGeom>
          <a:solidFill>
            <a:srgbClr val="F4F7FB"/>
          </a:solidFill>
          <a:ln w="19050">
            <a:solidFill>
              <a:srgbClr val="4A7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6464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7CB4"/>
                </a:solidFill>
              </a:rPr>
              <a:t>コンフォール井の頭公園南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91840"/>
            <a:ext cx="4818888" cy="1905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6464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22222"/>
                </a:solidFill>
              </a:rPr>
              <a:t>修繕委員会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6464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7CB4"/>
                </a:solidFill>
              </a:rPr>
              <a:t>第1回定例（キックオフ）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663440"/>
            <a:ext cx="4818888" cy="12700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6464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2026年6月7日（日）　14:00〜15:00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93792"/>
            <a:ext cx="6464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三鷹市下連雀八丁目地区公会堂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943600"/>
            <a:ext cx="5367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035040"/>
            <a:ext cx="5367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</a:rPr>
              <a:t>出席：小橋　／　石川　／　十文字　／　阿部　／　武藤　／　新関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647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</a:rPr>
              <a:t>委員会の目的・本日のアジェンダ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6647688" cy="1905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コンフォール井の頭公園南 修繕委員会 第1回定例　2026.6.7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241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195560"/>
            <a:ext cx="6647688" cy="12700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1092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委員会の目的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建物・設備の状態を把握し、長期修繕計画の策定と
　 必要に応じた修繕積立金の見直しを推進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67128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住民の意見を反映した計画立案と情報共有を支援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決定は理事会・総会が行い、委員会は調査・提案・情報発信を担う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38728"/>
            <a:ext cx="6647688" cy="475488"/>
          </a:xfrm>
          <a:prstGeom prst="rect">
            <a:avLst/>
          </a:prstGeom>
          <a:solidFill>
            <a:srgbClr val="F4F7FB"/>
          </a:solidFill>
          <a:ln w="9525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位置づけ：理事会と連携する住民委員会　／　決定機関は理事会・総会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79976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0776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本日のアジェンダ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46904"/>
            <a:ext cx="6647688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46904"/>
            <a:ext cx="457200" cy="475488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200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3834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メンバー紹介・役割分担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58968"/>
            <a:ext cx="6647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458968"/>
            <a:ext cx="457200" cy="475488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504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活動スコープ・スケジュールの確認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71032"/>
            <a:ext cx="6647688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71032"/>
            <a:ext cx="457200" cy="475488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441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06247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コンサル業者選定の進め方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83096"/>
            <a:ext cx="6647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483096"/>
            <a:ext cx="457200" cy="475488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56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657453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省エネ改修・緊急修繕の総会提案（新テーマ）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995160"/>
            <a:ext cx="6647688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995160"/>
            <a:ext cx="457200" cy="475488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7068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70866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運営ルール・決定事項・次回予定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647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</a:rPr>
              <a:t>メンバー紹介・役割分担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6647688" cy="1905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コンフォール井の頭公園南 修繕委員会 第1回定例　2026.6.7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241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195560"/>
            <a:ext cx="6647688" cy="12700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1092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出席メンバー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27048"/>
            <a:ext cx="6647688" cy="594360"/>
          </a:xfrm>
          <a:prstGeom prst="rect">
            <a:avLst/>
          </a:prstGeom>
          <a:solidFill>
            <a:srgbClr val="F4F7FB"/>
          </a:solidFill>
          <a:ln w="9525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72768"/>
            <a:ext cx="6647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</a:rPr>
              <a:t>小橋　　石川　　十文字　　阿部　　武藤　　新関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29408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【議題】役割分担の決定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145536"/>
          <a:ext cx="664768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18464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7CB4"/>
                          </a:solidFill>
                        </a:rPr>
                        <a:t>役割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7CB4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委員長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委員会の取りまとめ・対外窓口・理事会への報告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副委員長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委員長補佐・議事録管理（AIツール活用）・情報共有の整理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562856"/>
            <a:ext cx="6647688" cy="1188720"/>
          </a:xfrm>
          <a:prstGeom prst="rect">
            <a:avLst/>
          </a:prstGeom>
          <a:solidFill>
            <a:srgbClr val="FFF3DC"/>
          </a:solidFill>
          <a:ln w="9525">
            <a:solidFill>
              <a:srgbClr val="E0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617720"/>
            <a:ext cx="64830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4000"/>
                </a:solidFill>
              </a:rPr>
              <a:t>追加担当について（本日議論）
● 積立金評価担当（修繕積立金の適正性検証）を設けるか
● その他、必要な担当・役割があるかを議論する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647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</a:rPr>
              <a:t>活動スコープ・改定スケジュール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6647688" cy="1905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コンフォール井の頭公園南 修繕委員会 第1回定例　2026.6.7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241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195560"/>
            <a:ext cx="6647688" cy="12700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1092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活動スコープ（3本柱）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27048"/>
            <a:ext cx="6647688" cy="621792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27048"/>
            <a:ext cx="420624" cy="6217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18488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56362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長期修繕計画の策定（30年）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1837944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コンサル選定 → 現地調査 → 計画書作成 → 総会議決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03704"/>
            <a:ext cx="6647688" cy="621792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03704"/>
            <a:ext cx="420624" cy="6217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9514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4028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短期修繕計画の立案（直近5年）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51460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優先修繕箇所の整理 → コンサル提案 → 総会議決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80360"/>
            <a:ext cx="6647688" cy="621792"/>
          </a:xfrm>
          <a:prstGeom prst="rect">
            <a:avLst/>
          </a:prstGeom>
          <a:solidFill>
            <a:srgbClr val="FFF3DC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420624" cy="6217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7180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291693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省エネ改修・緊急修繕の提案【NEW】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19125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断熱窓を起点に → 積立金との整合性を確認しながら来年度総会への提案を並行推進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39896"/>
            <a:ext cx="6647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6000"/>
                </a:solidFill>
              </a:rPr>
              <a:t>※キックオフが5月予定から6月7日に遅延。以下は1ヶ月後ろ倒しの改定版。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15384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66184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① 長期修繕計画スケジュール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764024"/>
          <a:ext cx="664768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5596128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7CB4"/>
                          </a:solidFill>
                        </a:rPr>
                        <a:t>時期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7CB4"/>
                          </a:solidFill>
                        </a:rPr>
                        <a:t>内容（委員会中心）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6月〜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コンサル3社へプレゼン依頼・日程調整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7月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コンサル3社プレゼン実施（TDS・オフィスレコン・センターオフィス）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8月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業者選定・理事会決議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実施計画案の提示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10月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実施計画案の決議・現地調査（委員会立会い）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11月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調査報告・中長期修繕計画 納品・理事会報告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12月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住民向け全戸配布 / 修繕積立金変更案の検討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来年総会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修繕計画・積立金変更の議決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647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</a:rPr>
              <a:t>活動スコープ・改定スケジュール（続き）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6647688" cy="1905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コンフォール井の頭公園南 修繕委員会 第1回定例　2026.6.7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241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195560"/>
            <a:ext cx="6647688" cy="12700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1092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② 短期修繕計画スケジュール（直近5年）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08760"/>
          <a:ext cx="664768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5596128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7CB4"/>
                          </a:solidFill>
                        </a:rPr>
                        <a:t>時期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7CB4"/>
                          </a:solidFill>
                        </a:rPr>
                        <a:t>内容（委員会中心）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8月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要求仕様提示（インフラ緊急性・省エネ優先）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計画案提示（省エネ改修を中心に）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11月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現地調査後の優先修繕案提示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短期修繕計画案の検討 / 総会提案資料作成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来年総会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議決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384048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9128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新テーマ：省エネ改修・緊急修繕の来年総会提案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61688"/>
            <a:ext cx="6647688" cy="411480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40740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長期計画策定と並行し、早期に独立した検討ラインで動く。各提案は修繕積立金への影響を確認しながら進める。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4910328"/>
          <a:ext cx="664768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001768"/>
                <a:gridCol w="82296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7CB4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7CB4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7CB4"/>
                          </a:solidFill>
                        </a:rPr>
                        <a:t>目標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省エネ
改修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断熱窓改修を優先検討（専有部対象）
補助金・助成金（都・市・国）の活用可能性を調査
コンサルにも提案を依頼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2027年
総会への
提案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緊急
修繕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インフラ系（給排水管・電気設備等）の現状把握を優先
コンサル調査と並行して早期実態把握
緊急度が高いものは総会を待たず理事会決議で対応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随時
理事会
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57200" y="7470648"/>
            <a:ext cx="6647688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52551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● 省エネ改修：補助金差引後の実質負担と積立金残高を照合
● 緊急修繕：修繕費用の積立金への影響を試算・確認（積立金評価担当設置の場合）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647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</a:rPr>
              <a:t>コンサル業者選定の進め方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6647688" cy="1905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コンフォール井の頭公園南 修繕委員会 第1回定例　2026.6.7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241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195560"/>
            <a:ext cx="6647688" cy="12700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6647688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4A7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241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7CB4"/>
                </a:solidFill>
              </a:rPr>
              <a:t>候補3社：　TDS　／　オフィスレコン　／　センターオフィス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5100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プレゼン実施方針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7月中に3社それぞれ30分のプレゼンを実施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場所：会場を1日確保して3社連続、または管理事務室（Web参加可）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本日：各社への連絡・日程調整・会場確保の担当を決定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0840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選定基準（3点）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206240"/>
          <a:ext cx="664768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236208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7CB4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7CB4"/>
                          </a:solidFill>
                        </a:rPr>
                        <a:t>基準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①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要求仕様を満たしているか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金額が妥当か（想定100〜200万円）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③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短期計画・省エネ改修のコンサル提案が可能か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576072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1152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依頼内容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劣化診断調査（第3回大規模修繕に向けた建物調査）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7665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30年中長期修繕計画の作成・修繕積立金の評価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2237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短期修繕計画（5年）の立案（追加依頼）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6809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省エネ改修提案（追加依頼）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8321040"/>
            <a:ext cx="6647688" cy="1417320"/>
          </a:xfrm>
          <a:prstGeom prst="rect">
            <a:avLst/>
          </a:prstGeom>
          <a:solidFill>
            <a:srgbClr val="FFF3DC"/>
          </a:solidFill>
          <a:ln w="9525">
            <a:solidFill>
              <a:srgbClr val="E0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375904"/>
            <a:ext cx="64830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4000"/>
                </a:solidFill>
              </a:rPr>
              <a:t>【議題】見積事業者選定プロセスの追加について
● 管理会社任せにせず、委員会として選定基準・比較評価プロセスを持つことで透明性が高まる
● 一方、現時点では計画策定が優先。コンサル選定後に整備する選択肢もある
● 論点：今の段階で仕組みを検討するか、後回しにするか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647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</a:rPr>
              <a:t>運営ルール・本日の決定事項・次回予定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6647688" cy="1905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コンフォール井の頭公園南 修繕委員会 第1回定例　2026.6.7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241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7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195560"/>
            <a:ext cx="6647688" cy="12700"/>
          </a:xfrm>
          <a:prstGeom prst="rect">
            <a:avLst/>
          </a:prstGeom>
          <a:solidFill>
            <a:srgbClr val="E4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1092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運営ルール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08760"/>
          <a:ext cx="664768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1888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7CB4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7CB4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E4EF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打合せ頻度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月1回程度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コミュニケーション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Google Meet・チャット＋メール、必要に応じ書面・対面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議事録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副委員長（AIツール活用）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315468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548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本日の決定事項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6647688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7764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□　役割分担（委員長・副委員長・その他担当）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66476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336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□　コンサル3社への連絡・プレゼン日程調整・会場確保の担当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6647688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6908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□　見積事業者選定プロセスを今設けるか後回しにするか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66476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1480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□　省エネ改修・緊急修繕の優先確認事項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32120"/>
            <a:ext cx="6647688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E4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052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□　次回開催日程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6647688" cy="25400"/>
          </a:xfrm>
          <a:prstGeom prst="rect">
            <a:avLst/>
          </a:prstGeom>
          <a:solidFill>
            <a:srgbClr val="4A7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23000"/>
            <a:ext cx="664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7CB4"/>
                </a:solidFill>
              </a:rPr>
              <a:t>次回（7月）　コンサル3社プレゼン実施　→　業者選定の議論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720840"/>
            <a:ext cx="6492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コンサル3社（TDS・オフィスレコン・センターオフィス）のプレゼンを実施（各30分）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7196328"/>
            <a:ext cx="6492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各社の提案内容・金額・対応範囲を委員会内で評価・比較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671816"/>
            <a:ext cx="6492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● 業者選定の方向性を議論し、8月の理事会決議へ向けて準備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