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737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12188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D6E4F0"/>
                </a:solidFill>
              </a:rPr>
              <a:t>コンフォール井の頭公園南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51760"/>
            <a:ext cx="12188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修繕委員会  第1回定例（キックオフ）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47872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D6E4F0"/>
                </a:solidFill>
              </a:rPr>
              <a:t>2026年6月7日（日）　14:00〜15:00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D6E4F0"/>
                </a:solidFill>
              </a:rPr>
              <a:t>三鷹市下連雀八丁目地区公会堂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2120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CDDEE"/>
                </a:solidFill>
              </a:rPr>
              <a:t>出席：小橋　／　石川　／　十文字　／　阿部　／　武藤　／　新関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委員会の目的・本日のアジェンダ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</a:rPr>
              <a:t>コンフォール井の頭公園南 修繕委員会 第1回定例　2026.6.7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08080"/>
                </a:solidFill>
              </a:rPr>
              <a:t>2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5669280" cy="42062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委員会の目的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394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● 建物・設備の状態を把握し、長期修繕計画の策定と
　 必要に応じた修繕積立金の見直しを推進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77440"/>
            <a:ext cx="5394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● 住民の意見を反映した計画立案と情報共有を支援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5394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● 決定は理事会・総会が行い、委員会は
　 調査・提案・情報発信を担う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69080"/>
            <a:ext cx="566928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564"/>
                </a:solidFill>
              </a:rPr>
              <a:t>位置づけ：理事会と連携する住民委員会　決定機関は理事会・総会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051560"/>
            <a:ext cx="5394960" cy="42062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07899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本日のアジェンダ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600200"/>
            <a:ext cx="457200" cy="475488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645920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85432" y="1600200"/>
            <a:ext cx="4892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166420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メンバー紹介・役割分担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148840"/>
            <a:ext cx="457200" cy="475488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194560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85432" y="2148840"/>
            <a:ext cx="4892040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221284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活動スコープ・スケジュールの確認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697480"/>
            <a:ext cx="457200" cy="475488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743200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85432" y="2697480"/>
            <a:ext cx="4892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2592" y="276148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コンサル業者選定の進め方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246120"/>
            <a:ext cx="457200" cy="475488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291840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85432" y="3246120"/>
            <a:ext cx="4892040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2592" y="331012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省エネ改修・緊急修繕の総会提案（新テーマ）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94760"/>
            <a:ext cx="457200" cy="475488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840480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85432" y="3794760"/>
            <a:ext cx="4892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38587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運営ルール・決定事項・次回予定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メンバー紹介・役割分担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</a:rPr>
              <a:t>コンフォール井の頭公園南 修繕委員会 第1回定例　2026.6.7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08080"/>
                </a:solidFill>
              </a:rPr>
              <a:t>3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3000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出席メンバー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07899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小橋　／　石川　／　十文字　／　阿部　／　武藤　／　新関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1143000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28216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【議題】役割分担の決定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5256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役割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62626"/>
                          </a:solidFill>
                        </a:rPr>
                        <a:t>委員長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62626"/>
                          </a:solidFill>
                        </a:rPr>
                        <a:t>委員会の取りまとめ・対外窓口・理事会への報告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62626"/>
                          </a:solidFill>
                        </a:rPr>
                        <a:t>副委員長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62626"/>
                          </a:solidFill>
                        </a:rPr>
                        <a:t>委員長補佐・議事録管理（AIツール活用）・情報共有の整理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365760" y="3611880"/>
            <a:ext cx="11430000" cy="420624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6393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564"/>
                </a:solidFill>
              </a:rPr>
              <a:t>追加担当について（本日議論）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60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● 積立金評価担当（修繕積立金の適正性検証）を設けるか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908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● その他、必要な担当・役割があるかを議論する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活動スコープ・改定スケジュール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</a:rPr>
              <a:t>コンフォール井の頭公園南 修繕委員会 第1回定例　2026.6.7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08080"/>
                </a:solidFill>
              </a:rPr>
              <a:t>4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42416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活動スコープ（3本柱）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72768"/>
            <a:ext cx="502920" cy="54864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2763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1572768"/>
            <a:ext cx="10899648" cy="548640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63677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長期修繕計画の策定（30年）　　コンサル選定 → 現地調査 → 計画書作成 → 総会議決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94560"/>
            <a:ext cx="502920" cy="54864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49424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2194560"/>
            <a:ext cx="10899648" cy="548640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25856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短期修繕計画の立案（直近5年）　　優先修繕箇所の整理 → コンサル提案 → 総会議決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16352"/>
            <a:ext cx="502920" cy="54864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871216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2816352"/>
            <a:ext cx="10899648" cy="548640"/>
          </a:xfrm>
          <a:prstGeom prst="rect">
            <a:avLst/>
          </a:prstGeom>
          <a:solidFill>
            <a:srgbClr val="FFF0CC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28803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省エネ改修・緊急修繕の提案【NEW】　　断熱窓を起点に → 積立金との整合性を確認しながら来年度総会への提案を並行推進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4930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06000"/>
                </a:solidFill>
              </a:rPr>
              <a:t>※キックオフが5月予定から6月7日に遅延。以下は1ヶ月後ろ倒しの改定版。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58768"/>
            <a:ext cx="585216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886200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① 長期修繕計画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65760" y="4261104"/>
          <a:ext cx="58521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754880"/>
              </a:tblGrid>
              <a:tr h="259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時期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内容（委員会中心）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6月〜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コンサル3社へプレゼン依頼・日程調整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7月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コンサル3社プレゼン実施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8月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業者選定・理事会決議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9月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実施計画案の提示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10月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実施計画案の決議・現地調査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11月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調査報告・中長期計画 納品・理事会報告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12月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住民向け全戸配布 / 積立金変更案の検討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来年総会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修繕計画・積立金変更の議決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492240" y="3858768"/>
            <a:ext cx="53035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3886200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② 短期修繕計画（直近5年）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492240" y="4261104"/>
          <a:ext cx="53035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20624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時期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内容（委員会中心）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8月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要求仕様提示（インフラ緊急性・省エネ優先）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9月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計画案提示（省エネ改修を中心に）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11月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現地調査後の優先修繕案提示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12月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計画案の検討 / 総会提案資料作成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来年総会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議決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コンサル業者選定の進め方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</a:rPr>
              <a:t>コンフォール井の頭公園南 修繕委員会 第1回定例　2026.6.7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08080"/>
                </a:solidFill>
              </a:rPr>
              <a:t>5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42416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候補3社：TDS　／　オフィスレコン　／　センターオフィス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394960" cy="36576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プレゼン実施方針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● 7月中に3社それぞれ30分のプレゼンを実施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● 場所：会場を1日確保して3社連続
　 または管理事務室（Web参加可）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● 本日：連絡・日程調整・会場確保の担当を決定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5394960" cy="36576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91363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依頼内容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● 劣化診断調査（第3回大規模修繕に向けた建物調査）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00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● 30年中長期修繕計画の作成・修繕積立金の評価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578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● 短期修繕計画（5年）の立案（追加依頼）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715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● 省エネ改修提案（追加依頼）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600200"/>
            <a:ext cx="5669280" cy="36576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627632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選定基準（3点）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126480" y="2039112"/>
          <a:ext cx="56692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21208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基準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62626"/>
                          </a:solidFill>
                        </a:rPr>
                        <a:t>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62626"/>
                          </a:solidFill>
                        </a:rPr>
                        <a:t>要求仕様を満たしているか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62626"/>
                          </a:solidFill>
                        </a:rPr>
                        <a:t>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62626"/>
                          </a:solidFill>
                        </a:rPr>
                        <a:t>金額が妥当か（想定100〜200万円）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62626"/>
                          </a:solidFill>
                        </a:rPr>
                        <a:t>③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62626"/>
                          </a:solidFill>
                        </a:rPr>
                        <a:t>短期計画・省エネ改修のコンサル提案が可能か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6126480" y="3566160"/>
            <a:ext cx="5669280" cy="402336"/>
          </a:xfrm>
          <a:prstGeom prst="rect">
            <a:avLst/>
          </a:prstGeom>
          <a:solidFill>
            <a:srgbClr val="FFF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359359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04000"/>
                </a:solidFill>
              </a:rPr>
              <a:t>【議題】見積事業者選定プロセスの追加について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06908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● 管理会社任せにせず、委員会として選定基準・
　 比較評価プロセスを持つことで透明性が高まる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75488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● 一方、現時点では計画策定が優先。
　 コンサル選定後に整備する選択肢もある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44068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● 論点：今の段階で検討するか、後回しにするか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新テーマ：省エネ改修・緊急修繕の来年総会提案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</a:rPr>
              <a:t>コンフォール井の頭公園南 修繕委員会 第1回定例　2026.6.7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08080"/>
                </a:solidFill>
              </a:rPr>
              <a:t>6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24128"/>
            <a:ext cx="11430000" cy="43891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42415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564"/>
                </a:solidFill>
              </a:rPr>
              <a:t>長期計画策定と並行し、省エネ改修・緊急修繕は早期に独立した検討ラインで動く。各提案は修繕積立金への影響を確認しながら進める。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572768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772400"/>
                <a:gridCol w="2011680"/>
              </a:tblGrid>
              <a:tr h="88392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目標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62626"/>
                          </a:solidFill>
                        </a:rPr>
                        <a:t>省エネ改修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62626"/>
                          </a:solidFill>
                        </a:rPr>
                        <a:t>断熱窓改修を優先検討（専有部対象）
補助金・助成金（都・市・国）の活用可能性を調査
コンサルにも提案を依頼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62626"/>
                          </a:solidFill>
                        </a:rPr>
                        <a:t>2027年総会への提案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62626"/>
                          </a:solidFill>
                        </a:rPr>
                        <a:t>緊急修繕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62626"/>
                          </a:solidFill>
                        </a:rPr>
                        <a:t>インフラ系（給排水管・電気設備等）の現状把握を優先
コンサル調査と並行して早期実態把握
緊急度が高いものは総会を待たず理事会決議で対応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62626"/>
                          </a:solidFill>
                        </a:rPr>
                        <a:t>随時・理事会判断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4407408"/>
            <a:ext cx="11430000" cy="402336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4348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修繕積立金との整合性確認（積立金評価担当が設置された場合）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37760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● 省エネ改修：費用・補助金差引後の実質負担と積立金残高を照合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● 緊急修繕：修繕費用の積立金への影響を試算・確認し、緊急度判断の材料とする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運営ルール・本日の決定事項・次回予定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</a:rPr>
              <a:t>コンフォール井の頭公園南 修繕委員会 第1回定例　2026.6.7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08080"/>
                </a:solidFill>
              </a:rPr>
              <a:t>7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24128"/>
            <a:ext cx="5394960" cy="40233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運営ルール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499616"/>
          <a:ext cx="5394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47472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62626"/>
                          </a:solidFill>
                        </a:rPr>
                        <a:t>打合せ頻度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62626"/>
                          </a:solidFill>
                        </a:rPr>
                        <a:t>月1回程度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62626"/>
                          </a:solidFill>
                        </a:rPr>
                        <a:t>コミュニケーション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62626"/>
                          </a:solidFill>
                        </a:rPr>
                        <a:t>Google Meet・チャット＋メール
必要に応じ書面・対面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62626"/>
                          </a:solidFill>
                        </a:rPr>
                        <a:t>議事録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62626"/>
                          </a:solidFill>
                        </a:rPr>
                        <a:t>副委員長（AIツール活用）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26480" y="1024128"/>
            <a:ext cx="5669280" cy="40233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本日の決定事項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99616"/>
            <a:ext cx="5669280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15544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□　役割分担（委員長・副委員長・その他担当）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956816"/>
            <a:ext cx="56692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20116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□　コンサル3社への連絡・プレゼン日程調整・会場確保の担当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414016"/>
            <a:ext cx="5669280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24688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□　見積事業者選定プロセスを今設けるか後回しにするか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871216"/>
            <a:ext cx="56692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29260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□　省エネ改修・緊急修繕の優先確認事項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328416"/>
            <a:ext cx="5669280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33832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□　次回開催日程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11880"/>
            <a:ext cx="11430000" cy="420624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63931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次回（7月）　コンサル3社プレゼン実施　→　業者選定に向けた評価・議論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6052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● コンサル3社（TDS・オフィスレコン・センターオフィス）のプレゼンを実施（各30分）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9087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● 各社の提案内容・金額・対応範囲を委員会内で評価・比較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21224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62626"/>
                </a:solidFill>
              </a:rPr>
              <a:t>● 業者選定の方向性を議論し、8月の理事会決議へ向けて準備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