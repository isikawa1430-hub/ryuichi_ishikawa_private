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4F0"/>
                </a:solidFill>
              </a:rPr>
              <a:t>コンフォール井の頭公園南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修繕委員会  第1回定例（キックオフ）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4F0"/>
                </a:solidFill>
              </a:rPr>
              <a:t>2026年6月7日（日）　14:00〜15:00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77639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6E4F0"/>
                </a:solidFill>
              </a:rPr>
              <a:t>三鷹市下連雀八丁目地区公会堂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12064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出席：小橋　／　石川　／　十文字　／　阿部　／　武藤　／　新関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委員会の目的・本日のアジェンダ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2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48640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33271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委員会の目的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建物・設備の状態を把握し、長期修繕計画の策定と
　 必要に応じた修繕積立金の見直しを推進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21408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住民の意見を反映した計画立案と情報共有を支援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9776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決定は理事会・総会が行い、委員会は
　 調査・提案・情報発信を担う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474720"/>
            <a:ext cx="5486400" cy="45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564"/>
                </a:solidFill>
              </a:rPr>
              <a:t>委員会の位置づけ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319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理事会と連携する住民委員会
決定機関は理事会・総会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05840"/>
            <a:ext cx="557784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03327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本日のアジェンダ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508760"/>
            <a:ext cx="411480" cy="38404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4533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48272" y="1508760"/>
            <a:ext cx="4846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5453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メンバー紹介・役割分担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965960"/>
            <a:ext cx="411480" cy="38404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200253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48272" y="1965960"/>
            <a:ext cx="484632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0025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活動スコープ・スケジュールの確認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23160"/>
            <a:ext cx="411480" cy="38404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45973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272" y="2423160"/>
            <a:ext cx="4846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59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コンサル業者選定の進め方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880360"/>
            <a:ext cx="411480" cy="38404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91693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48272" y="2880360"/>
            <a:ext cx="484632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9169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省エネ改修・緊急修繕の総会提案（新テーマ）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337560"/>
            <a:ext cx="411480" cy="38404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37413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48272" y="3337560"/>
            <a:ext cx="4846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33741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運営ルール・決定事項・次回予定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メンバー紹介・役割分担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3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3327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出席メンバー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033271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小橋　／　石川　／　十文字　／　阿部　／　武藤　／　新関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114300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【議題】役割分担の決定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103120"/>
          <a:ext cx="1106424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委員長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委員会の取りまとめ・対外窓口・理事会への報告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副委員長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委員長補佐・議事録管理（AIツール活用）・情報共有の整理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365760" y="3291840"/>
            <a:ext cx="11430000" cy="3657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192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</a:rPr>
              <a:t>追加担当について（本日議論）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積立金評価担当（修繕積立金の適正性検証）を設けるか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87951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その他、必要な担当・役割があるかを議論する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活動スコープ・改定スケジュール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4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875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活動スコープ（3本柱）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457200" cy="5029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463040"/>
            <a:ext cx="1092708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50876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長期修繕計画の策定（30年）　　コンサル選定 → 現地調査 → 計画書作成 → 総会議決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39112"/>
            <a:ext cx="457200" cy="5029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0848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039112"/>
            <a:ext cx="1092708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0848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短期修繕計画の立案（直近5年）　　優先修繕箇所の整理 → コンサル提案 → 総会議決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15184"/>
            <a:ext cx="457200" cy="5029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660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615184"/>
            <a:ext cx="10927080" cy="502920"/>
          </a:xfrm>
          <a:prstGeom prst="rect">
            <a:avLst/>
          </a:prstGeom>
          <a:solidFill>
            <a:srgbClr val="FFF0CC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660904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省エネ改修・緊急修繕の提案【NEW】　　断熱窓を起点に → 積立金との整合性を確認しながら来年度総会への提案を並行推進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5526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6000"/>
                </a:solidFill>
              </a:rPr>
              <a:t>※キックオフが5月予定から6月7日に遅延。以下は1ヶ月後ろ倒しの改定版。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66160"/>
            <a:ext cx="576072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9359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① 長期修繕計画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3931920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284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内容（委員会中心）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6月〜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コンサル3社へプレゼン依頼・日程調整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7月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コンサル3社プレゼン実施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8月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業者選定・理事会決議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9月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実施計画案の提示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10月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実施計画案の決議・現地調査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11月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調査報告・中長期計画 納品・理事会報告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12月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住民向け全戸配布 / 積立金変更案の検討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来年総会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修繕計画・積立金変更の議決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400800" y="3566160"/>
            <a:ext cx="53949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59359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② 短期修繕計画（直近5年）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400800" y="3931920"/>
          <a:ext cx="5394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内容（委員会中心）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8月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要求仕様提示（インフラ緊急性・省エネ優先）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9月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計画案提示（省エネ改修を中心に）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11月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現地調査後の優先修繕案提示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計画案の検討 / 総会提案資料作成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来年総会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議決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コンサル業者選定の進め方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5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875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候補3社：TDS　／　オフィスレコン　／　センターオフィス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303520" cy="32004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361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プレゼン実施方針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● 7月中に3社それぞれ30分のプレゼンを実施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● 場所：会場を1日確保して3社連続
　 または管理事務室（Web参加可）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● 本日：連絡・日程調整・会場確保の担当を決定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40"/>
            <a:ext cx="5303520" cy="32004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依頼内容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● 劣化診断調査（第3回大規模修繕に向けた建物調査）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1596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● 30年中長期修繕計画の作成・修繕積立金の評価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001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● 短期修繕計画（5年）の立案（追加依頼）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8406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● 省エネ改修提案（追加依頼）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508760"/>
            <a:ext cx="5760720" cy="32004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153619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選定基準（3点）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035040" y="1901952"/>
          <a:ext cx="57607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基準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要求仕様を満たしているか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金額が妥当か（想定100〜200万円）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③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短期計画・省エネ改修のコンサル提案が可能か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035040" y="3246120"/>
            <a:ext cx="5760720" cy="347472"/>
          </a:xfrm>
          <a:prstGeom prst="rect">
            <a:avLst/>
          </a:prstGeom>
          <a:solidFill>
            <a:srgbClr val="FFF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26440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04000"/>
                </a:solidFill>
              </a:rPr>
              <a:t>【議題】見積事業者選定プロセスの追加について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6576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● 管理会社任せにせず、委員会として選定基準・
　 比較評価プロセスを持つことで透明性が高まる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● 一方、現時点では計画策定が優先。
　 プロセス設計はコンサル選定後でも整備可能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9377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● 論点：今の段階で仕組みを検討するか、
　 コンサル選定後に改めて議論するか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新テーマ：省エネ改修・緊急修繕の来年総会提案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6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11430000" cy="384048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564"/>
                </a:solidFill>
              </a:rPr>
              <a:t>長期計画策定と並行し、省エネ改修・緊急修繕は早期に独立した検討ラインで動く。　各提案は修繕積立金への影響を確認しながら進める。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50876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目標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省エネ改修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断熱窓改修を優先検討（専有部対象）
補助金・助成金（都・市・国）の活用可能性を調査
コンサルにも提案を依頼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2027年総会への提案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緊急修繕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インフラ系（給排水管・電気設備等）の現状把握を優先
コンサル調査と並行して早期実態把握
緊急度が高いものは総会を待たず理事会決議で対応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随時・理事会判断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4069080"/>
            <a:ext cx="11430000" cy="34747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08736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修繕積立金との整合性確認（積立金評価担当が設置された場合）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省エネ改修：費用・補助金差引後の実質負担と積立金残高を照合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834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緊急修繕：修繕費用の積立金への影響を試算・確認し、緊急度判断の材料とする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運営ルール・本日の決定事項・次回予定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</a:rPr>
              <a:t>7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3035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8755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運営ルール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89888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打合せ頻度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月1回程度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コミュニケーション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Google Meet・チャット＋メール
必要に応じ書面・対面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議事録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副委員長（AIツール活用）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26480" y="960120"/>
            <a:ext cx="566928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987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本日の決定事項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44752"/>
            <a:ext cx="566928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4813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□　役割分担（委員長・副委員長・その他担当）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56692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□　コンサル3社への連絡・プレゼン日程調整・会場確保の担当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212848"/>
            <a:ext cx="566928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2494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□　見積事業者選定プロセスを今設けるか後回しにするか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596896"/>
            <a:ext cx="56692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26334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□　省エネ改修・緊急修繕の優先確認事項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980944"/>
            <a:ext cx="566928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175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□　次回開催日程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46120"/>
            <a:ext cx="11430000" cy="36576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26440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次回（7月）　コンサル3社プレゼン実施　→　業者選定に向けた評価・議論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749039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コンサル3社（TDS・オフィスレコン・センターオフィス）のプレゼンを実施（各30分）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87951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各社の提案内容・金額・対応範囲を委員会内で評価・比較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626863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● 業者選定の方向性を議論し、8月の理事会決議へ向けて準備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